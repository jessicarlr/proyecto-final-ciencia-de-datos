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8" r:id="rId3"/>
    <p:sldId id="265" r:id="rId4"/>
    <p:sldId id="257" r:id="rId5"/>
    <p:sldId id="266" r:id="rId6"/>
    <p:sldId id="260" r:id="rId7"/>
    <p:sldId id="261" r:id="rId8"/>
    <p:sldId id="267" r:id="rId9"/>
    <p:sldId id="262" r:id="rId10"/>
    <p:sldId id="268" r:id="rId11"/>
    <p:sldId id="269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0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80" d="100"/>
          <a:sy n="80" d="100"/>
        </p:scale>
        <p:origin x="40" y="-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D014C6B-D158-3893-7097-5BE6D6A932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408F546-0ECB-D74B-EAAF-F245F443E9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1DB97-87A1-47C8-9C44-1ED6B23390E9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8C9F759-EE4A-4857-9DB8-8A9BB96EEEE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E536B5A-9B81-002A-7242-D9EA06D9BE4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2DBEDA-99DB-4536-9862-E957CEF7089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24101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7A6D17-E084-4B1C-8F4B-288BF55D6606}" type="datetimeFigureOut">
              <a:rPr lang="es-MX" smtClean="0"/>
              <a:t>25/11/2025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E22EF6-D0E4-4D00-8CAE-AB66EF35359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44890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88907-72E6-425B-84EE-99392803BB7A}" type="datetime1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50750-10B7-4863-8F32-82F3C5D096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1289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7742A-D181-4229-B1F8-A4B94304FB94}" type="datetime1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50750-10B7-4863-8F32-82F3C5D096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48308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A70D8-2F5E-4E66-B7A6-C556FFC9A77E}" type="datetime1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50750-10B7-4863-8F32-82F3C5D096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7389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31EFA-7DEA-4878-B359-185E78F70955}" type="datetime1">
              <a:rPr lang="es-MX" smtClean="0"/>
              <a:t>25/11/2025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50750-10B7-4863-8F32-82F3C5D096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7199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1DF59-3713-4068-8F61-F28B0EB42C44}" type="datetime1">
              <a:rPr lang="es-MX" smtClean="0"/>
              <a:t>25/11/2025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50750-10B7-4863-8F32-82F3C5D096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2191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50B14-4913-4C9A-9121-CC7B1BF172AD}" type="datetime1">
              <a:rPr lang="es-MX" smtClean="0"/>
              <a:t>25/11/2025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50750-10B7-4863-8F32-82F3C5D096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8663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5FC50-5840-4994-A180-BC955FBE5AFD}" type="datetime1">
              <a:rPr lang="es-MX" smtClean="0"/>
              <a:t>25/11/2025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50750-10B7-4863-8F32-82F3C5D096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5239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119B5-81D8-4B94-9417-092F8B67DEEF}" type="datetime1">
              <a:rPr lang="es-MX" smtClean="0"/>
              <a:t>25/11/2025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50750-10B7-4863-8F32-82F3C5D096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4494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3DD3B-1A0D-49FA-BF96-B764B60E2787}" type="datetime1">
              <a:rPr lang="es-MX" smtClean="0"/>
              <a:t>25/11/2025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50750-10B7-4863-8F32-82F3C5D096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507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64AA4-2BAD-4331-A061-1F97234E9F5B}" type="datetime1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50750-10B7-4863-8F32-82F3C5D096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680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D7084-6347-4FC0-A083-26DB3044A4D5}" type="datetime1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50750-10B7-4863-8F32-82F3C5D096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399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DEFFF0-E9DF-4A21-9FB1-37A8A058EC51}" type="datetime1">
              <a:rPr lang="es-MX" smtClean="0"/>
              <a:t>25/11/2025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B50750-10B7-4863-8F32-82F3C5D096F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26585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Imagen que contiene objeto, vidrio, tabla, sostener&#10;&#10;El contenido generado por IA puede ser incorrecto.">
            <a:extLst>
              <a:ext uri="{FF2B5EF4-FFF2-40B4-BE49-F238E27FC236}">
                <a16:creationId xmlns:a16="http://schemas.microsoft.com/office/drawing/2014/main" id="{CAE521D4-B636-FDA5-3DC8-E91A0ED84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49" b="4351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DB3FF9F-5BF2-3834-AD8A-4B5E846B9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0480" y="15032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ES" sz="5400" dirty="0">
                <a:solidFill>
                  <a:schemeClr val="bg1"/>
                </a:solidFill>
              </a:rPr>
              <a:t>Clasificación de Tumores con Datos de RNA-</a:t>
            </a:r>
            <a:r>
              <a:rPr lang="es-ES" sz="5400" dirty="0" err="1">
                <a:solidFill>
                  <a:schemeClr val="bg1"/>
                </a:solidFill>
              </a:rPr>
              <a:t>Seq</a:t>
            </a:r>
            <a:r>
              <a:rPr lang="es-ES" sz="5400" dirty="0">
                <a:solidFill>
                  <a:schemeClr val="bg1"/>
                </a:solidFill>
              </a:rPr>
              <a:t> del TCGA Pan-</a:t>
            </a:r>
            <a:r>
              <a:rPr lang="es-ES" sz="5400" dirty="0" err="1">
                <a:solidFill>
                  <a:schemeClr val="bg1"/>
                </a:solidFill>
              </a:rPr>
              <a:t>Cancer</a:t>
            </a:r>
            <a:r>
              <a:rPr lang="es-ES" sz="5400" dirty="0">
                <a:solidFill>
                  <a:schemeClr val="bg1"/>
                </a:solidFill>
              </a:rPr>
              <a:t> Atlas</a:t>
            </a:r>
            <a:endParaRPr lang="es-MX" sz="5200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99D2C9-B023-00B9-4351-86F912A9CB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3752" y="5939914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s-MX" dirty="0">
                <a:solidFill>
                  <a:srgbClr val="FFFFFF"/>
                </a:solidFill>
              </a:rPr>
              <a:t>Jessica Rubí Lara Rosales</a:t>
            </a: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E88A781F-5378-6EE1-6E8A-105F251B6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50750-10B7-4863-8F32-82F3C5D096F0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43149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E568CA-6318-E9C7-1963-942422C93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59E5464-89F7-4210-4021-DE4754E5B7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01486"/>
            <a:ext cx="9830230" cy="4351338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D206F2-9118-A4D5-AC45-98B916CE5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50750-10B7-4863-8F32-82F3C5D096F0}" type="slidenum">
              <a:rPr lang="es-MX" smtClean="0"/>
              <a:t>2</a:t>
            </a:fld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8A9DCD4-C5BF-8BD1-EF7F-546781AB1EC7}"/>
              </a:ext>
            </a:extLst>
          </p:cNvPr>
          <p:cNvSpPr txBox="1"/>
          <p:nvPr/>
        </p:nvSpPr>
        <p:spPr>
          <a:xfrm>
            <a:off x="3823996" y="654374"/>
            <a:ext cx="77723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proyecto </a:t>
            </a:r>
            <a:r>
              <a:rPr lang="es-ES" b="1" dirty="0" err="1"/>
              <a:t>The</a:t>
            </a:r>
            <a:r>
              <a:rPr lang="es-ES" b="1" dirty="0"/>
              <a:t> </a:t>
            </a:r>
            <a:r>
              <a:rPr lang="es-ES" b="1" dirty="0" err="1"/>
              <a:t>Cancer</a:t>
            </a:r>
            <a:r>
              <a:rPr lang="es-ES" b="1" dirty="0"/>
              <a:t> </a:t>
            </a:r>
            <a:r>
              <a:rPr lang="es-ES" b="1" dirty="0" err="1"/>
              <a:t>Genome</a:t>
            </a:r>
            <a:r>
              <a:rPr lang="es-ES" b="1" dirty="0"/>
              <a:t> Atlas (TCGA) </a:t>
            </a:r>
            <a:r>
              <a:rPr lang="es-ES" dirty="0"/>
              <a:t>constituye uno de los recursos más importantes en el análisis de datos genómicos a gran escala permitiendo la comprensión de la biología del cáncer. Reúne datos moleculares, clínicos y patológicos de más de 11,000 pacientes con cáncer a lo largo de 33 tipos tumorales.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066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77685-985D-BC6B-F127-B4EAB15E0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B8619C-B1AC-10BD-D554-86EA5E4CA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937"/>
            <a:ext cx="10515600" cy="1325563"/>
          </a:xfrm>
        </p:spPr>
        <p:txBody>
          <a:bodyPr>
            <a:normAutofit/>
          </a:bodyPr>
          <a:lstStyle/>
          <a:p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F8662C78-BD7A-9568-4309-8E1595DD8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50750-10B7-4863-8F32-82F3C5D096F0}" type="slidenum">
              <a:rPr lang="es-MX" smtClean="0"/>
              <a:t>3</a:t>
            </a:fld>
            <a:endParaRPr lang="es-MX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C352CB2-C498-3902-9519-D5D119F9A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818" y="1587500"/>
            <a:ext cx="8854782" cy="4791508"/>
          </a:xfrm>
          <a:prstGeom prst="rect">
            <a:avLst/>
          </a:prstGeom>
        </p:spPr>
      </p:pic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93A029BC-4A20-BF32-1B59-D8561A5E33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42399" y="1455581"/>
            <a:ext cx="8253759" cy="505534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FC1E312-381D-C362-7767-64A0E46A1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8289" y="1115840"/>
            <a:ext cx="9411092" cy="526316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24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arcador de contenido 8" descr="Diagrama&#10;&#10;El contenido generado por IA puede ser incorrecto.">
            <a:extLst>
              <a:ext uri="{FF2B5EF4-FFF2-40B4-BE49-F238E27FC236}">
                <a16:creationId xmlns:a16="http://schemas.microsoft.com/office/drawing/2014/main" id="{9305B2F4-D2BB-4BCD-A8DA-2956956EB2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9847" y="249381"/>
            <a:ext cx="9624322" cy="5412678"/>
          </a:xfrm>
          <a:prstGeom prst="rect">
            <a:avLst/>
          </a:prstGeom>
        </p:spPr>
      </p:pic>
      <p:sp>
        <p:nvSpPr>
          <p:cNvPr id="37" name="Marcador de número de diapositiva 36">
            <a:extLst>
              <a:ext uri="{FF2B5EF4-FFF2-40B4-BE49-F238E27FC236}">
                <a16:creationId xmlns:a16="http://schemas.microsoft.com/office/drawing/2014/main" id="{125EA1BD-3C17-8A63-5518-DD4607407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50750-10B7-4863-8F32-82F3C5D096F0}" type="slidenum">
              <a:rPr lang="es-MX" smtClean="0"/>
              <a:t>4</a:t>
            </a:fld>
            <a:endParaRPr lang="es-MX"/>
          </a:p>
        </p:txBody>
      </p:sp>
      <p:pic>
        <p:nvPicPr>
          <p:cNvPr id="12" name="Imagen 11" descr="Un microondas con la puerta abierta&#10;&#10;El contenido generado por IA puede ser incorrecto.">
            <a:extLst>
              <a:ext uri="{FF2B5EF4-FFF2-40B4-BE49-F238E27FC236}">
                <a16:creationId xmlns:a16="http://schemas.microsoft.com/office/drawing/2014/main" id="{865BE7F7-1CD9-9C27-0927-D22E16F248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6497" y="3670663"/>
            <a:ext cx="3210709" cy="2426699"/>
          </a:xfrm>
          <a:prstGeom prst="rect">
            <a:avLst/>
          </a:prstGeom>
        </p:spPr>
      </p:pic>
      <p:grpSp>
        <p:nvGrpSpPr>
          <p:cNvPr id="36" name="Grupo 35">
            <a:extLst>
              <a:ext uri="{FF2B5EF4-FFF2-40B4-BE49-F238E27FC236}">
                <a16:creationId xmlns:a16="http://schemas.microsoft.com/office/drawing/2014/main" id="{CF00A7C5-5DCB-F94E-0BA1-AC4BAC431852}"/>
              </a:ext>
            </a:extLst>
          </p:cNvPr>
          <p:cNvGrpSpPr/>
          <p:nvPr/>
        </p:nvGrpSpPr>
        <p:grpSpPr>
          <a:xfrm>
            <a:off x="3420008" y="2527650"/>
            <a:ext cx="5175352" cy="2569166"/>
            <a:chOff x="3420008" y="2527650"/>
            <a:chExt cx="5175352" cy="2569166"/>
          </a:xfrm>
        </p:grpSpPr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A393B793-48A4-F465-D829-12D25FA245FF}"/>
                </a:ext>
              </a:extLst>
            </p:cNvPr>
            <p:cNvCxnSpPr>
              <a:stCxn id="14" idx="7"/>
            </p:cNvCxnSpPr>
            <p:nvPr/>
          </p:nvCxnSpPr>
          <p:spPr>
            <a:xfrm>
              <a:off x="5847514" y="2903896"/>
              <a:ext cx="2747846" cy="18771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18B89D44-5149-13EA-FC31-4D0ED0CADD9B}"/>
                </a:ext>
              </a:extLst>
            </p:cNvPr>
            <p:cNvGrpSpPr/>
            <p:nvPr/>
          </p:nvGrpSpPr>
          <p:grpSpPr>
            <a:xfrm>
              <a:off x="3420008" y="2527650"/>
              <a:ext cx="5175352" cy="2569166"/>
              <a:chOff x="3420008" y="2527650"/>
              <a:chExt cx="5175352" cy="2569166"/>
            </a:xfrm>
          </p:grpSpPr>
          <p:sp>
            <p:nvSpPr>
              <p:cNvPr id="14" name="Diagrama de flujo: conector 13">
                <a:extLst>
                  <a:ext uri="{FF2B5EF4-FFF2-40B4-BE49-F238E27FC236}">
                    <a16:creationId xmlns:a16="http://schemas.microsoft.com/office/drawing/2014/main" id="{0E43A593-BD06-C4BD-D4CC-EB6C7C823F00}"/>
                  </a:ext>
                </a:extLst>
              </p:cNvPr>
              <p:cNvSpPr/>
              <p:nvPr/>
            </p:nvSpPr>
            <p:spPr>
              <a:xfrm>
                <a:off x="3420008" y="2527650"/>
                <a:ext cx="2844000" cy="2569166"/>
              </a:xfrm>
              <a:prstGeom prst="flowChartConnector">
                <a:avLst/>
              </a:prstGeom>
              <a:noFill/>
              <a:ln w="1905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cxnSp>
            <p:nvCxnSpPr>
              <p:cNvPr id="28" name="Conector recto 27">
                <a:extLst>
                  <a:ext uri="{FF2B5EF4-FFF2-40B4-BE49-F238E27FC236}">
                    <a16:creationId xmlns:a16="http://schemas.microsoft.com/office/drawing/2014/main" id="{EDA04D14-136B-F66A-6CE6-F63A5B6B8539}"/>
                  </a:ext>
                </a:extLst>
              </p:cNvPr>
              <p:cNvCxnSpPr>
                <a:cxnSpLocks/>
                <a:stCxn id="14" idx="4"/>
              </p:cNvCxnSpPr>
              <p:nvPr/>
            </p:nvCxnSpPr>
            <p:spPr>
              <a:xfrm flipV="1">
                <a:off x="4842008" y="4781006"/>
                <a:ext cx="3753352" cy="31581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7C97CCA-51E8-D413-C030-6A885CED4B47}"/>
              </a:ext>
            </a:extLst>
          </p:cNvPr>
          <p:cNvSpPr txBox="1"/>
          <p:nvPr/>
        </p:nvSpPr>
        <p:spPr>
          <a:xfrm>
            <a:off x="561913" y="249381"/>
            <a:ext cx="16193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Datos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E82805B-D8CA-5617-BC8B-6D27AE2043C0}"/>
              </a:ext>
            </a:extLst>
          </p:cNvPr>
          <p:cNvSpPr txBox="1"/>
          <p:nvPr/>
        </p:nvSpPr>
        <p:spPr>
          <a:xfrm>
            <a:off x="9232556" y="6108349"/>
            <a:ext cx="1638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/>
              <a:t>Illumina</a:t>
            </a:r>
            <a:r>
              <a:rPr lang="es-MX" dirty="0"/>
              <a:t> </a:t>
            </a:r>
            <a:r>
              <a:rPr lang="es-MX" dirty="0" err="1"/>
              <a:t>HiSeq</a:t>
            </a:r>
            <a:endParaRPr lang="es-MX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583BE46-6C86-E4CD-3820-E11C2BE57823}"/>
              </a:ext>
            </a:extLst>
          </p:cNvPr>
          <p:cNvSpPr txBox="1"/>
          <p:nvPr/>
        </p:nvSpPr>
        <p:spPr>
          <a:xfrm>
            <a:off x="295562" y="5936864"/>
            <a:ext cx="7878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TCGA-OR-A5J1-01A-11R-A29S-07  </a:t>
            </a:r>
          </a:p>
          <a:p>
            <a:r>
              <a:rPr lang="es-MX" b="1" dirty="0">
                <a:highlight>
                  <a:srgbClr val="FFFF00"/>
                </a:highlight>
              </a:rPr>
              <a:t>A2LD1|87769 :  </a:t>
            </a:r>
            <a:r>
              <a:rPr lang="es-MX" dirty="0">
                <a:highlight>
                  <a:srgbClr val="FFFF00"/>
                </a:highlight>
              </a:rPr>
              <a:t>17.2911      </a:t>
            </a:r>
            <a:r>
              <a:rPr lang="es-MX" b="1" dirty="0">
                <a:highlight>
                  <a:srgbClr val="FFFF00"/>
                </a:highlight>
              </a:rPr>
              <a:t>USH1C|10083 : </a:t>
            </a:r>
            <a:r>
              <a:rPr lang="es-MX" dirty="0">
                <a:highlight>
                  <a:srgbClr val="FFFF00"/>
                </a:highlight>
              </a:rPr>
              <a:t>182.39       </a:t>
            </a:r>
            <a:r>
              <a:rPr lang="es-MX" b="1" dirty="0">
                <a:highlight>
                  <a:srgbClr val="FFFF00"/>
                </a:highlight>
              </a:rPr>
              <a:t>ZXDC|79364 : </a:t>
            </a:r>
            <a:r>
              <a:rPr lang="es-MX" dirty="0">
                <a:highlight>
                  <a:srgbClr val="FFFF00"/>
                </a:highlight>
              </a:rPr>
              <a:t>10373.70</a:t>
            </a:r>
          </a:p>
        </p:txBody>
      </p:sp>
    </p:spTree>
    <p:extLst>
      <p:ext uri="{BB962C8B-B14F-4D97-AF65-F5344CB8AC3E}">
        <p14:creationId xmlns:p14="http://schemas.microsoft.com/office/powerpoint/2010/main" val="297728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C5E837-843B-F932-6160-DF7E88BE7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069" y="375408"/>
            <a:ext cx="10515600" cy="1325563"/>
          </a:xfrm>
        </p:spPr>
        <p:txBody>
          <a:bodyPr/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Procesamiento y Limpieza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BBBE01C-A402-2407-E047-9EEAAE0945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1217" y="1566525"/>
            <a:ext cx="7964055" cy="2692677"/>
          </a:xfrm>
          <a:prstGeom prst="rect">
            <a:avLst/>
          </a:prstGeom>
        </p:spPr>
      </p:pic>
      <p:sp>
        <p:nvSpPr>
          <p:cNvPr id="15" name="Marcador de número de diapositiva 14">
            <a:extLst>
              <a:ext uri="{FF2B5EF4-FFF2-40B4-BE49-F238E27FC236}">
                <a16:creationId xmlns:a16="http://schemas.microsoft.com/office/drawing/2014/main" id="{CA11F0E7-2EE8-9E8F-EA03-B2594FF8F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50750-10B7-4863-8F32-82F3C5D096F0}" type="slidenum">
              <a:rPr lang="es-MX" smtClean="0"/>
              <a:t>5</a:t>
            </a:fld>
            <a:endParaRPr lang="es-MX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B19891D-01D9-95FF-3C38-40B80DC8A3BF}"/>
              </a:ext>
            </a:extLst>
          </p:cNvPr>
          <p:cNvSpPr txBox="1"/>
          <p:nvPr/>
        </p:nvSpPr>
        <p:spPr>
          <a:xfrm>
            <a:off x="1073020" y="5203461"/>
            <a:ext cx="2351926" cy="369332"/>
          </a:xfrm>
          <a:prstGeom prst="rect">
            <a:avLst/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s-MX" b="1" dirty="0"/>
              <a:t>Genes finales: </a:t>
            </a:r>
            <a:r>
              <a:rPr lang="es-MX" dirty="0"/>
              <a:t>20502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CBDB530-A897-BCBB-F2A0-99DF50766D5D}"/>
              </a:ext>
            </a:extLst>
          </p:cNvPr>
          <p:cNvSpPr txBox="1"/>
          <p:nvPr/>
        </p:nvSpPr>
        <p:spPr>
          <a:xfrm>
            <a:off x="1073020" y="4664108"/>
            <a:ext cx="1891095" cy="369332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s-MX" b="1" dirty="0"/>
              <a:t>Muestras: </a:t>
            </a:r>
            <a:r>
              <a:rPr lang="es-MX" dirty="0"/>
              <a:t>11568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7A2F751-D49C-D1EF-813F-9CCEBECE124B}"/>
              </a:ext>
            </a:extLst>
          </p:cNvPr>
          <p:cNvSpPr txBox="1"/>
          <p:nvPr/>
        </p:nvSpPr>
        <p:spPr>
          <a:xfrm>
            <a:off x="1073020" y="5719665"/>
            <a:ext cx="2192908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s-MX" b="1" dirty="0"/>
              <a:t>Tipos de cáncer: </a:t>
            </a:r>
            <a:r>
              <a:rPr lang="es-MX" dirty="0"/>
              <a:t>33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F206038-A9B7-6EB6-13E6-958DA7251442}"/>
              </a:ext>
            </a:extLst>
          </p:cNvPr>
          <p:cNvSpPr txBox="1"/>
          <p:nvPr/>
        </p:nvSpPr>
        <p:spPr>
          <a:xfrm>
            <a:off x="6764694" y="453538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/>
              <a:t>Nan</a:t>
            </a:r>
            <a:endParaRPr lang="es-MX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B205E2F-B7CC-5594-D206-F4E7C4FDEDF0}"/>
              </a:ext>
            </a:extLst>
          </p:cNvPr>
          <p:cNvSpPr txBox="1"/>
          <p:nvPr/>
        </p:nvSpPr>
        <p:spPr>
          <a:xfrm>
            <a:off x="6764694" y="4968309"/>
            <a:ext cx="1539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"</a:t>
            </a:r>
            <a:r>
              <a:rPr lang="es-MX" dirty="0" err="1"/>
              <a:t>Do_not_use</a:t>
            </a:r>
            <a:r>
              <a:rPr lang="es-MX" dirty="0"/>
              <a:t>"</a:t>
            </a:r>
          </a:p>
          <a:p>
            <a:endParaRPr lang="es-MX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654DD69-A009-0516-B476-749A733F0A0D}"/>
              </a:ext>
            </a:extLst>
          </p:cNvPr>
          <p:cNvSpPr txBox="1"/>
          <p:nvPr/>
        </p:nvSpPr>
        <p:spPr>
          <a:xfrm>
            <a:off x="6820722" y="5399875"/>
            <a:ext cx="4210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"</a:t>
            </a:r>
            <a:r>
              <a:rPr lang="en-US" dirty="0" err="1"/>
              <a:t>AWG_excluded_because_of_pathology</a:t>
            </a:r>
            <a:r>
              <a:rPr lang="en-US" dirty="0"/>
              <a:t>"</a:t>
            </a:r>
          </a:p>
          <a:p>
            <a:endParaRPr lang="es-MX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02AF5FA-BAE1-C3C4-B0DF-0DEECAAD4C63}"/>
              </a:ext>
            </a:extLst>
          </p:cNvPr>
          <p:cNvSpPr txBox="1"/>
          <p:nvPr/>
        </p:nvSpPr>
        <p:spPr>
          <a:xfrm>
            <a:off x="4181846" y="4720054"/>
            <a:ext cx="182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Estandarización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7CC1C89-0B3C-56A9-8278-EE1C134904AD}"/>
              </a:ext>
            </a:extLst>
          </p:cNvPr>
          <p:cNvSpPr txBox="1"/>
          <p:nvPr/>
        </p:nvSpPr>
        <p:spPr>
          <a:xfrm>
            <a:off x="4263451" y="5291474"/>
            <a:ext cx="1539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Reetiquetado</a:t>
            </a:r>
            <a:endParaRPr lang="es-MX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2414E81-A92F-1980-7DF2-BBA77E6A23DC}"/>
              </a:ext>
            </a:extLst>
          </p:cNvPr>
          <p:cNvSpPr txBox="1"/>
          <p:nvPr/>
        </p:nvSpPr>
        <p:spPr>
          <a:xfrm>
            <a:off x="9218063" y="2132537"/>
            <a:ext cx="1548004" cy="923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Las clases </a:t>
            </a:r>
          </a:p>
          <a:p>
            <a:r>
              <a:rPr lang="es-MX" dirty="0"/>
              <a:t>no están balanceadas</a:t>
            </a:r>
          </a:p>
        </p:txBody>
      </p:sp>
    </p:spTree>
    <p:extLst>
      <p:ext uri="{BB962C8B-B14F-4D97-AF65-F5344CB8AC3E}">
        <p14:creationId xmlns:p14="http://schemas.microsoft.com/office/powerpoint/2010/main" val="2475078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46B35C-98E5-3285-4D2C-E822EDFC1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951" y="98474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Reducción</a:t>
            </a:r>
            <a:r>
              <a:rPr lang="en-US" sz="48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dimension con PCA</a:t>
            </a:r>
          </a:p>
        </p:txBody>
      </p:sp>
      <p:sp>
        <p:nvSpPr>
          <p:cNvPr id="16" name="Marcador de número de diapositiva 15">
            <a:extLst>
              <a:ext uri="{FF2B5EF4-FFF2-40B4-BE49-F238E27FC236}">
                <a16:creationId xmlns:a16="http://schemas.microsoft.com/office/drawing/2014/main" id="{DDC7AAF1-4F58-2663-E354-37006A041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50750-10B7-4863-8F32-82F3C5D096F0}" type="slidenum">
              <a:rPr lang="es-MX" smtClean="0"/>
              <a:t>6</a:t>
            </a:fld>
            <a:endParaRPr lang="es-MX"/>
          </a:p>
        </p:txBody>
      </p:sp>
      <p:pic>
        <p:nvPicPr>
          <p:cNvPr id="13" name="Imagen 12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77A69A47-86BD-F944-3749-A7557F8B4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99" y="1766807"/>
            <a:ext cx="7824501" cy="4323037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590F6AB5-C1FB-5755-67B0-B9C66F82A2B5}"/>
              </a:ext>
            </a:extLst>
          </p:cNvPr>
          <p:cNvSpPr txBox="1"/>
          <p:nvPr/>
        </p:nvSpPr>
        <p:spPr>
          <a:xfrm>
            <a:off x="9470571" y="3244334"/>
            <a:ext cx="764953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MX" dirty="0"/>
              <a:t>N= 35</a:t>
            </a:r>
          </a:p>
        </p:txBody>
      </p:sp>
    </p:spTree>
    <p:extLst>
      <p:ext uri="{BB962C8B-B14F-4D97-AF65-F5344CB8AC3E}">
        <p14:creationId xmlns:p14="http://schemas.microsoft.com/office/powerpoint/2010/main" val="217787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2A1407-3D62-A1A6-E1F5-C9B0D0B05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PCA</a:t>
            </a:r>
          </a:p>
        </p:txBody>
      </p:sp>
      <p:pic>
        <p:nvPicPr>
          <p:cNvPr id="11" name="Marcador de contenido 10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D4372767-CAFF-17FF-C7A7-29016F8368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078" y="1290691"/>
            <a:ext cx="9483844" cy="5248221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470A33-FE83-8702-B6A2-4C814782E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50750-10B7-4863-8F32-82F3C5D096F0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6094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BE129-F050-2A3C-E6BD-3D0EA4456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1A7D92-307A-0A2C-6F7A-670DF5869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Clasificación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1A60CABF-AE0B-FD94-D7E0-8577D72B3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50750-10B7-4863-8F32-82F3C5D096F0}" type="slidenum">
              <a:rPr lang="es-MX" smtClean="0"/>
              <a:t>8</a:t>
            </a:fld>
            <a:endParaRPr lang="es-MX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118D672-9435-BA02-8CF2-D9624A3E8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054" y="3042600"/>
            <a:ext cx="6735115" cy="219105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1F1A72D2-3B30-AE75-972A-6CB7B025B7FF}"/>
              </a:ext>
            </a:extLst>
          </p:cNvPr>
          <p:cNvSpPr txBox="1"/>
          <p:nvPr/>
        </p:nvSpPr>
        <p:spPr>
          <a:xfrm>
            <a:off x="838200" y="1964140"/>
            <a:ext cx="6898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Resultados comparativos de cada método usando PCA</a:t>
            </a:r>
          </a:p>
        </p:txBody>
      </p:sp>
    </p:spTree>
    <p:extLst>
      <p:ext uri="{BB962C8B-B14F-4D97-AF65-F5344CB8AC3E}">
        <p14:creationId xmlns:p14="http://schemas.microsoft.com/office/powerpoint/2010/main" val="485754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689A5-31F2-2F7F-92B6-9ACEBEF3B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232" y="183012"/>
            <a:ext cx="10515600" cy="1325563"/>
          </a:xfrm>
        </p:spPr>
        <p:txBody>
          <a:bodyPr>
            <a:normAutofit/>
          </a:bodyPr>
          <a:lstStyle/>
          <a:p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A355DF-A07D-A1FD-AC6C-215B29AE5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Mejor y peor desempeño</a:t>
            </a:r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59DD7C4A-7F01-FD61-EC23-8C1F6E5AC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50750-10B7-4863-8F32-82F3C5D096F0}" type="slidenum">
              <a:rPr lang="es-MX" smtClean="0"/>
              <a:t>9</a:t>
            </a:fld>
            <a:endParaRPr lang="es-MX"/>
          </a:p>
        </p:txBody>
      </p:sp>
      <p:pic>
        <p:nvPicPr>
          <p:cNvPr id="5" name="Imagen 4" descr="Imagen que contiene reloj&#10;&#10;El contenido generado por IA puede ser incorrecto.">
            <a:extLst>
              <a:ext uri="{FF2B5EF4-FFF2-40B4-BE49-F238E27FC236}">
                <a16:creationId xmlns:a16="http://schemas.microsoft.com/office/drawing/2014/main" id="{B6202D9E-CA96-20BF-36DE-175710CFE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53053" y="1298469"/>
            <a:ext cx="9386597" cy="519440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D280C9A-24CC-B0F9-E5A6-56401F22B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544" y="732688"/>
            <a:ext cx="3208627" cy="5746025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C005A68D-4621-F5C2-15EB-D2E711E1FF29}"/>
              </a:ext>
            </a:extLst>
          </p:cNvPr>
          <p:cNvSpPr/>
          <p:nvPr/>
        </p:nvSpPr>
        <p:spPr>
          <a:xfrm>
            <a:off x="7633544" y="1718681"/>
            <a:ext cx="3208627" cy="19409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C3F562-F330-44C8-9715-E35ECCCBEC71}"/>
              </a:ext>
            </a:extLst>
          </p:cNvPr>
          <p:cNvSpPr/>
          <p:nvPr/>
        </p:nvSpPr>
        <p:spPr>
          <a:xfrm>
            <a:off x="7633543" y="4801522"/>
            <a:ext cx="3208627" cy="19409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2731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156B9D-8EDC-1875-0A85-082796CF8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 PCA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6D6436-B2AB-7F06-A0F7-52B84A40F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6935" y="70152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E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s-E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s-E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r>
              <a:rPr lang="es-E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s-E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es-ES" sz="1800" b="1" dirty="0"/>
              <a:t>        </a:t>
            </a:r>
            <a:r>
              <a:rPr lang="es-E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s-ES" sz="2000" dirty="0"/>
              <a:t>0.9461	        0.9500        0.9461    0.9397</a:t>
            </a:r>
            <a:endParaRPr lang="es-MX" sz="20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62DADD-0DE4-84DE-7F38-6A7A15268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50750-10B7-4863-8F32-82F3C5D096F0}" type="slidenum">
              <a:rPr lang="es-MX" smtClean="0"/>
              <a:t>10</a:t>
            </a:fld>
            <a:endParaRPr lang="es-MX"/>
          </a:p>
        </p:txBody>
      </p:sp>
      <p:pic>
        <p:nvPicPr>
          <p:cNvPr id="6" name="Imagen 5" descr="Gráfico&#10;&#10;El contenido generado por IA puede ser incorrecto.">
            <a:extLst>
              <a:ext uri="{FF2B5EF4-FFF2-40B4-BE49-F238E27FC236}">
                <a16:creationId xmlns:a16="http://schemas.microsoft.com/office/drawing/2014/main" id="{8BE97C06-539F-08AA-B91C-7C16F2168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928" y="1881972"/>
            <a:ext cx="8453535" cy="467806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BD2E93E-F6B0-8106-D4DA-E1737F4CC228}"/>
              </a:ext>
            </a:extLst>
          </p:cNvPr>
          <p:cNvSpPr txBox="1"/>
          <p:nvPr/>
        </p:nvSpPr>
        <p:spPr>
          <a:xfrm>
            <a:off x="8610600" y="1881972"/>
            <a:ext cx="29966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PA2G4P4 : </a:t>
            </a:r>
          </a:p>
          <a:p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Pseudogen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investigaciones han estudiado su posible implicación en la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tumororigenesis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cancer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vejiga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8B7EA55-9800-BEA4-1426-8EC5AE5D3D36}"/>
              </a:ext>
            </a:extLst>
          </p:cNvPr>
          <p:cNvSpPr txBox="1"/>
          <p:nvPr/>
        </p:nvSpPr>
        <p:spPr>
          <a:xfrm>
            <a:off x="8610599" y="3576748"/>
            <a:ext cx="30713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TSHR: </a:t>
            </a:r>
          </a:p>
          <a:p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receptor de la hormona estimulante de la tiroides, es clave para controlar el metabolismo y el desarrollo del cuerpo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2055E3F-EA7D-DFE6-9029-CB7FC42AFF74}"/>
              </a:ext>
            </a:extLst>
          </p:cNvPr>
          <p:cNvSpPr txBox="1"/>
          <p:nvPr/>
        </p:nvSpPr>
        <p:spPr>
          <a:xfrm>
            <a:off x="8556559" y="5205533"/>
            <a:ext cx="29760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LOC442454: </a:t>
            </a:r>
          </a:p>
          <a:p>
            <a:r>
              <a:rPr lang="es-ES" sz="1600" dirty="0"/>
              <a:t>Gen cuya función aún no ha sido completamente caracterizada</a:t>
            </a:r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433799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41325-6415-BD49-FCEE-EF1CBB416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 PCA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C8651626-C6FC-0549-3962-6D9F7E4A0B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4153" y="2867661"/>
            <a:ext cx="6763694" cy="2267266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8BBA2F-C3B7-D6CF-0C00-812B4DE28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50750-10B7-4863-8F32-82F3C5D096F0}" type="slidenum">
              <a:rPr lang="es-MX" smtClean="0"/>
              <a:t>11</a:t>
            </a:fld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C4C775A-68B5-A9E5-9680-93B1DA28E37F}"/>
              </a:ext>
            </a:extLst>
          </p:cNvPr>
          <p:cNvSpPr txBox="1"/>
          <p:nvPr/>
        </p:nvSpPr>
        <p:spPr>
          <a:xfrm>
            <a:off x="724037" y="2241220"/>
            <a:ext cx="10629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Resultados comparativos de cada modelo usando las 30 variables más importantes del </a:t>
            </a:r>
            <a:r>
              <a:rPr lang="es-E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Forest</a:t>
            </a:r>
            <a:endParaRPr lang="es-MX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5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AE68B5-7151-6F01-F359-3A5314C9D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492" y="136525"/>
            <a:ext cx="10515600" cy="1325563"/>
          </a:xfrm>
        </p:spPr>
        <p:txBody>
          <a:bodyPr/>
          <a:lstStyle/>
          <a:p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Trabajo a futuro y conclusiones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1299039-F54B-8561-33BE-F1B089961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50750-10B7-4863-8F32-82F3C5D096F0}" type="slidenum">
              <a:rPr lang="es-MX" smtClean="0"/>
              <a:t>12</a:t>
            </a:fld>
            <a:endParaRPr lang="es-MX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ED34FF4-BB0E-787C-A8DB-9C870970A7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2739" y="2350200"/>
            <a:ext cx="9878878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Resultado Principal: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clasificación es viable y puede ser muy precisa</a:t>
            </a:r>
            <a:r>
              <a:rPr lang="es-MX" altLang="es-MX" sz="1800" dirty="0">
                <a:latin typeface="Arial" panose="020B0604020202020204" pitchFamily="34" charset="0"/>
              </a:rPr>
              <a:t> reduciendo dimensionalidad con PCA.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MX" altLang="es-MX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MX" sz="1800" b="1" dirty="0">
                <a:latin typeface="Arial" panose="020B0604020202020204" pitchFamily="34" charset="0"/>
              </a:rPr>
              <a:t> Principales Dificultades: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s-ES" altLang="es-MX" sz="1800" dirty="0">
                <a:latin typeface="Arial" panose="020B0604020202020204" pitchFamily="34" charset="0"/>
              </a:rPr>
              <a:t>	- Alta Dimensionalidad de los datos.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s-ES" altLang="es-MX" sz="1800" dirty="0">
                <a:latin typeface="Arial" panose="020B0604020202020204" pitchFamily="34" charset="0"/>
              </a:rPr>
              <a:t>	- Similitud Biológica entre ciertos cánceres (ej. COAD y READ).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s-ES" altLang="es-MX" sz="1800" dirty="0">
                <a:latin typeface="Arial" panose="020B0604020202020204" pitchFamily="34" charset="0"/>
              </a:rPr>
              <a:t>	- Desequilibrio de clases, donde tipos de cáncer con pocas muestras (ej. CHOL) no se 	pudieron clasificar bien.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ES" altLang="es-MX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S" altLang="es-MX" sz="1800" b="1" dirty="0">
                <a:latin typeface="Arial" panose="020B0604020202020204" pitchFamily="34" charset="0"/>
              </a:rPr>
              <a:t> Propuestas Futuras: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s-ES" altLang="es-MX" sz="1800" dirty="0">
                <a:latin typeface="Arial" panose="020B0604020202020204" pitchFamily="34" charset="0"/>
              </a:rPr>
              <a:t>	 - Abordar el desbalance de clases.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s-ES" altLang="es-MX" sz="1800" dirty="0">
                <a:latin typeface="Arial" panose="020B0604020202020204" pitchFamily="34" charset="0"/>
              </a:rPr>
              <a:t>	 - Usar métodos de reducción de dimensionalidad no lineales (como t-SNE o UMAP) 	para capturar mejor la complejidad de los datos.</a:t>
            </a:r>
            <a:endParaRPr lang="es-MX" altLang="es-MX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MX" altLang="es-MX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657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610</TotalTime>
  <Words>356</Words>
  <Application>Microsoft Office PowerPoint</Application>
  <PresentationFormat>Panorámica</PresentationFormat>
  <Paragraphs>62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Clasificación de Tumores con Datos de RNA-Seq del TCGA Pan-Cancer Atlas</vt:lpstr>
      <vt:lpstr>Datos</vt:lpstr>
      <vt:lpstr>Datos</vt:lpstr>
      <vt:lpstr>Presentación de PowerPoint</vt:lpstr>
      <vt:lpstr>Procesamiento y Limpieza</vt:lpstr>
      <vt:lpstr>Reducción de dimension con PCA</vt:lpstr>
      <vt:lpstr>PCA</vt:lpstr>
      <vt:lpstr>Clasificación</vt:lpstr>
      <vt:lpstr>Clasificación</vt:lpstr>
      <vt:lpstr>Sin PCA</vt:lpstr>
      <vt:lpstr>Sin PCA</vt:lpstr>
      <vt:lpstr>Trabajo a futuro y 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JESSICA RUBI LARA ROSALES</dc:creator>
  <cp:lastModifiedBy>JESSICA RUBI LARA ROSALES</cp:lastModifiedBy>
  <cp:revision>3</cp:revision>
  <dcterms:created xsi:type="dcterms:W3CDTF">2025-11-25T04:22:46Z</dcterms:created>
  <dcterms:modified xsi:type="dcterms:W3CDTF">2025-11-25T14:33:25Z</dcterms:modified>
</cp:coreProperties>
</file>